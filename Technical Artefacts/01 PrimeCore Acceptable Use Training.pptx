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aa6cf4ad2c4bf6" /><Relationship Type="http://schemas.openxmlformats.org/officeDocument/2006/relationships/extended-properties" Target="/docProps/app.xml" Id="Rb16f6a3bf71c48c4" /><Relationship Type="http://schemas.openxmlformats.org/officeDocument/2006/relationships/officeDocument" Target="/ppt/presentation.xml" Id="Rfad4870775ae42ce" /></Relationships>
</file>

<file path=ppt/presentation.xml><?xml version="1.0" encoding="utf-8"?>
<p:presentation xmlns:p="http://schemas.openxmlformats.org/presentationml/2006/main">
  <p:sldMasterIdLst>
    <p:sldMasterId xmlns:r="http://schemas.openxmlformats.org/officeDocument/2006/relationships" id="2147483648" r:id="R24aa991c3f384acc"/>
  </p:sldMasterIdLst>
  <p:notesMasterIdLst>
    <p:notesMasterId xmlns:r="http://schemas.openxmlformats.org/officeDocument/2006/relationships" r:id="R06fb6dca55794267"/>
  </p:notesMasterIdLst>
  <p:sldIdLst>
    <p:sldId xmlns:r="http://schemas.openxmlformats.org/officeDocument/2006/relationships" id="256" r:id="Rabfa4c4d513747d4"/>
    <p:sldId xmlns:r="http://schemas.openxmlformats.org/officeDocument/2006/relationships" id="257" r:id="R4f14821464a34668"/>
    <p:sldId xmlns:r="http://schemas.openxmlformats.org/officeDocument/2006/relationships" id="258" r:id="Rc293c030a2d74bc7"/>
    <p:sldId xmlns:r="http://schemas.openxmlformats.org/officeDocument/2006/relationships" id="259" r:id="R4f4027fc1fd94da6"/>
    <p:sldId xmlns:r="http://schemas.openxmlformats.org/officeDocument/2006/relationships" id="260" r:id="R65fa90d284ec43f8"/>
    <p:sldId xmlns:r="http://schemas.openxmlformats.org/officeDocument/2006/relationships" id="261" r:id="Rd76e3b79ac934f95"/>
    <p:sldId xmlns:r="http://schemas.openxmlformats.org/officeDocument/2006/relationships" id="262" r:id="R4006d83daa4f413d"/>
    <p:sldId xmlns:r="http://schemas.openxmlformats.org/officeDocument/2006/relationships" id="263" r:id="Rde7c7a73f6b740c8"/>
    <p:sldId xmlns:r="http://schemas.openxmlformats.org/officeDocument/2006/relationships" id="264" r:id="Ra12ba375cda74098"/>
    <p:sldId xmlns:r="http://schemas.openxmlformats.org/officeDocument/2006/relationships" id="265" r:id="R3ed5f71b0d424c05"/>
    <p:sldId xmlns:r="http://schemas.openxmlformats.org/officeDocument/2006/relationships" id="266" r:id="R8cf85923ed6c41e4"/>
    <p:sldId xmlns:r="http://schemas.openxmlformats.org/officeDocument/2006/relationships" id="267" r:id="R6728b6fc848b41dd"/>
    <p:sldId xmlns:r="http://schemas.openxmlformats.org/officeDocument/2006/relationships" id="268" r:id="R19cc5d2c11a54515"/>
    <p:sldId xmlns:r="http://schemas.openxmlformats.org/officeDocument/2006/relationships" id="269" r:id="R8440a3c45fc14275"/>
    <p:sldId xmlns:r="http://schemas.openxmlformats.org/officeDocument/2006/relationships" id="270" r:id="R50ccf0d682344e27"/>
    <p:sldId xmlns:r="http://schemas.openxmlformats.org/officeDocument/2006/relationships" id="271" r:id="R6a9be3883ae04468"/>
    <p:sldId xmlns:r="http://schemas.openxmlformats.org/officeDocument/2006/relationships" id="272" r:id="Raba57523b7294332"/>
    <p:sldId xmlns:r="http://schemas.openxmlformats.org/officeDocument/2006/relationships" id="273" r:id="Rdda1fa6f784d44bd"/>
    <p:sldId xmlns:r="http://schemas.openxmlformats.org/officeDocument/2006/relationships" id="274" r:id="R1147a90423fc4fe0"/>
    <p:sldId xmlns:r="http://schemas.openxmlformats.org/officeDocument/2006/relationships" id="275" r:id="Rc7a807a60e4e45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ecbfd85367457b" /><Relationship Type="http://schemas.openxmlformats.org/officeDocument/2006/relationships/slideMaster" Target="/ppt/slideMasters/slideMaster1.xml" Id="R24aa991c3f384acc" /><Relationship Type="http://schemas.openxmlformats.org/officeDocument/2006/relationships/notesMaster" Target="/ppt/notesMasters/notesMaster1.xml" Id="R06fb6dca55794267" /><Relationship Type="http://schemas.openxmlformats.org/officeDocument/2006/relationships/presProps" Target="/ppt/presProps.xml" Id="R9b92fb7a1f2b4459" /><Relationship Type="http://schemas.openxmlformats.org/officeDocument/2006/relationships/tableStyles" Target="/ppt/tableStyles.xml" Id="R3ca5599c2d174646" /><Relationship Type="http://schemas.openxmlformats.org/officeDocument/2006/relationships/slide" Target="/ppt/slides/slide1.xml" Id="Rabfa4c4d513747d4" /><Relationship Type="http://schemas.openxmlformats.org/officeDocument/2006/relationships/slide" Target="/ppt/slides/slide2.xml" Id="R4f14821464a34668" /><Relationship Type="http://schemas.openxmlformats.org/officeDocument/2006/relationships/slide" Target="/ppt/slides/slide3.xml" Id="Rc293c030a2d74bc7" /><Relationship Type="http://schemas.openxmlformats.org/officeDocument/2006/relationships/slide" Target="/ppt/slides/slide4.xml" Id="R4f4027fc1fd94da6" /><Relationship Type="http://schemas.openxmlformats.org/officeDocument/2006/relationships/slide" Target="/ppt/slides/slide5.xml" Id="R65fa90d284ec43f8" /><Relationship Type="http://schemas.openxmlformats.org/officeDocument/2006/relationships/slide" Target="/ppt/slides/slide6.xml" Id="Rd76e3b79ac934f95" /><Relationship Type="http://schemas.openxmlformats.org/officeDocument/2006/relationships/slide" Target="/ppt/slides/slide7.xml" Id="R4006d83daa4f413d" /><Relationship Type="http://schemas.openxmlformats.org/officeDocument/2006/relationships/slide" Target="/ppt/slides/slide8.xml" Id="Rde7c7a73f6b740c8" /><Relationship Type="http://schemas.openxmlformats.org/officeDocument/2006/relationships/slide" Target="/ppt/slides/slide9.xml" Id="Ra12ba375cda74098" /><Relationship Type="http://schemas.openxmlformats.org/officeDocument/2006/relationships/slide" Target="/ppt/slides/slide10.xml" Id="R3ed5f71b0d424c05" /><Relationship Type="http://schemas.openxmlformats.org/officeDocument/2006/relationships/slide" Target="/ppt/slides/slide11.xml" Id="R8cf85923ed6c41e4" /><Relationship Type="http://schemas.openxmlformats.org/officeDocument/2006/relationships/slide" Target="/ppt/slides/slide12.xml" Id="R6728b6fc848b41dd" /><Relationship Type="http://schemas.openxmlformats.org/officeDocument/2006/relationships/slide" Target="/ppt/slides/slide13.xml" Id="R19cc5d2c11a54515" /><Relationship Type="http://schemas.openxmlformats.org/officeDocument/2006/relationships/slide" Target="/ppt/slides/slide14.xml" Id="R8440a3c45fc14275" /><Relationship Type="http://schemas.openxmlformats.org/officeDocument/2006/relationships/slide" Target="/ppt/slides/slide15.xml" Id="R50ccf0d682344e27" /><Relationship Type="http://schemas.openxmlformats.org/officeDocument/2006/relationships/slide" Target="/ppt/slides/slide16.xml" Id="R6a9be3883ae04468" /><Relationship Type="http://schemas.openxmlformats.org/officeDocument/2006/relationships/slide" Target="/ppt/slides/slide17.xml" Id="Raba57523b7294332" /><Relationship Type="http://schemas.openxmlformats.org/officeDocument/2006/relationships/slide" Target="/ppt/slides/slide18.xml" Id="Rdda1fa6f784d44bd" /><Relationship Type="http://schemas.openxmlformats.org/officeDocument/2006/relationships/slide" Target="/ppt/slides/slide19.xml" Id="R1147a90423fc4fe0" /><Relationship Type="http://schemas.openxmlformats.org/officeDocument/2006/relationships/slide" Target="/ppt/slides/slide20.xml" Id="Rc7a807a60e4e45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c4d8c8ffd045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118586c8774d8d" /><Relationship Type="http://schemas.openxmlformats.org/officeDocument/2006/relationships/notesMaster" Target="/ppt/notesMasters/notesMaster1.xml" Id="R2e2054991fd742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cb6e46be454b8e" /><Relationship Type="http://schemas.openxmlformats.org/officeDocument/2006/relationships/notesMaster" Target="/ppt/notesMasters/notesMaster1.xml" Id="R2b83944045bf40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1ffb910e7d4c3f" /><Relationship Type="http://schemas.openxmlformats.org/officeDocument/2006/relationships/notesMaster" Target="/ppt/notesMasters/notesMaster1.xml" Id="R48294d03f6c749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fb0bfdad224ca6" /><Relationship Type="http://schemas.openxmlformats.org/officeDocument/2006/relationships/notesMaster" Target="/ppt/notesMasters/notesMaster1.xml" Id="R85355eacf44b44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87a945d9114d8e" /><Relationship Type="http://schemas.openxmlformats.org/officeDocument/2006/relationships/notesMaster" Target="/ppt/notesMasters/notesMaster1.xml" Id="R2051614c641a48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ddf496abb9420a" /><Relationship Type="http://schemas.openxmlformats.org/officeDocument/2006/relationships/notesMaster" Target="/ppt/notesMasters/notesMaster1.xml" Id="Rfef94f51df9d47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f4b32965b84c28" /><Relationship Type="http://schemas.openxmlformats.org/officeDocument/2006/relationships/notesMaster" Target="/ppt/notesMasters/notesMaster1.xml" Id="R4fe92cdefab347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768a0d5b1648d8" /><Relationship Type="http://schemas.openxmlformats.org/officeDocument/2006/relationships/notesMaster" Target="/ppt/notesMasters/notesMaster1.xml" Id="R11f291e23a0b4a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6554aa6e7243bf" /><Relationship Type="http://schemas.openxmlformats.org/officeDocument/2006/relationships/notesMaster" Target="/ppt/notesMasters/notesMaster1.xml" Id="Re3b89b6ecb7d44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e71712e56349ee" /><Relationship Type="http://schemas.openxmlformats.org/officeDocument/2006/relationships/notesMaster" Target="/ppt/notesMasters/notesMaster1.xml" Id="Rb20b4001f5f44f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c8be2329194f12" /><Relationship Type="http://schemas.openxmlformats.org/officeDocument/2006/relationships/notesMaster" Target="/ppt/notesMasters/notesMaster1.xml" Id="Ra2edf9ede05646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1ce31e5b634725" /><Relationship Type="http://schemas.openxmlformats.org/officeDocument/2006/relationships/notesMaster" Target="/ppt/notesMasters/notesMaster1.xml" Id="R4d88bfb0606148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a46edf78604b71" /><Relationship Type="http://schemas.openxmlformats.org/officeDocument/2006/relationships/notesMaster" Target="/ppt/notesMasters/notesMaster1.xml" Id="R25e1906394a841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d3238bcbab44ed" /><Relationship Type="http://schemas.openxmlformats.org/officeDocument/2006/relationships/notesMaster" Target="/ppt/notesMasters/notesMaster1.xml" Id="R38fecd29d66f4e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8632c85a4d4f8a" /><Relationship Type="http://schemas.openxmlformats.org/officeDocument/2006/relationships/notesMaster" Target="/ppt/notesMasters/notesMaster1.xml" Id="R4bd6ae1787334f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2e6ffe75af457e" /><Relationship Type="http://schemas.openxmlformats.org/officeDocument/2006/relationships/notesMaster" Target="/ppt/notesMasters/notesMaster1.xml" Id="Rc06de0f60ced4b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b04b972abe4ae5" /><Relationship Type="http://schemas.openxmlformats.org/officeDocument/2006/relationships/notesMaster" Target="/ppt/notesMasters/notesMaster1.xml" Id="Rbe9ae8ad4f8642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ed308caa5340f4" /><Relationship Type="http://schemas.openxmlformats.org/officeDocument/2006/relationships/notesMaster" Target="/ppt/notesMasters/notesMaster1.xml" Id="R655bf2d06f8d48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c9baff90af480c" /><Relationship Type="http://schemas.openxmlformats.org/officeDocument/2006/relationships/notesMaster" Target="/ppt/notesMasters/notesMaster1.xml" Id="R0c2a5f440822411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7d41f7dd244d31" /><Relationship Type="http://schemas.openxmlformats.org/officeDocument/2006/relationships/notesMaster" Target="/ppt/notesMasters/notesMaster1.xml" Id="Rc4749693ff9e42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PC-01. Version 0.2, 3 October 2026. Proposed policy training for approval. Audience: PrimeCore staff and contractors. Suggested duration 30–40 minutes. Objectives: perform an approved access request, share information safely, secure devices and report incidents. The facilitator confirms current reporting contacts and approved services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a reachable service is not automatically authorised. Link to PC-03 Access Control Policy and PC-02 Implementation. Ask the learner to name one resource they need and its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PC-03, PC-09 Confidentiality Agreement and PC-11 Email Policy. Discuss an engineering drawing sent to an external contractor: approval and limited sharing are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PC-04 Asset Management Register and PC-08 Clean Desk Policy. Proposed automatic lock baseline is five minutes; users still lock immediately when leaving. Exercise: demonstrate a manual screen 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PC-03 and PC-13. The Azure VPN is proposed, not an available service. The demonstrated employee Wi-Fi block protects one tested management path. Do not generalise that evidence to every device or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discussion. Expected response: verify through a known independent contact, confirm the recipient and data owner approval, and use approved storage. Urgency does not establish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PC-14 and SEC-03. The facilitator must provide the approved primary and backup reporting contacts before delivery. A delivered email is not an acknowledgement. For an unavailable primary contact, use the approved backup.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PC-03 Access Control Policy; PC-02 Access Control Implementation; SEC-01 Network Access Procedure. Record requester, resource, business reason, approver, rights, expiry and test result. For a role change, the owner reviews obsolete permissions and IT removes them. Contractors need a sponsor and an end date. Escalate denied legitimate access through the request route rather than borrowing an account. Exercise: draft a read-only access request for a mine-site contractor.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PC-03; SEC-05 Authentication Lockout Procedure. Use the known IT contact, independent of any suspicious message. IT verifies identity through the approved recovery process before resetting access. Keep passwords and recovery codes private. Never send them with a support request. Do not conduct deliberate lockout tests on production accounts. Unexpected MFA prompts go through the incident route. Exercise: explain the next action after an unexpected MFA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SEC-02 Shared File Procedure; PC-03; PC-09 Confidentiality Agreement; PC-11 Email Policy. Check classification and business need before external sharing. Use a named recipient and read-only access where sufficient. Apply an expiry where the approved service supports it. Review the actual permissions before sending. Keep credentials, recovery codes and incident evidence out of ordinary shared folders. Exercise: review a sample sharing request using synthetic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PC-11 Email Policy; PC-14 Incident Response Management Plan; SEC-03 Notification Escalation Procedure. Use a known phone number or directory entry to verify requests for files, payment changes or credentials. Preserve the original message and headers through the approved reporting method. Avoid forwarding suspicious attachments to colleagues. If a link was opened or credentials entered, report the action and time immediately. The responder decides containment and recovery. Exercise: identify the reporting steps for the urgent file-request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PC-03; PC-04 Asset Management Register; PC-13 Network Design. These are proposed user procedures for policy approval. Request details include the product, source, device, purpose and required access. IT checks compatibility and security before installation. Leave found or unknown USB devices disconnected and hand them to the nominated responder. Report unexpected prompts or alerts. Users must not disable endpoint protection or use administrator rights to bypass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PC-03; PC-13; SEC-01. Confirm the currently available service with IT. The Azure point-to-site work instruction is proposed and does not prove an operational employee VPN. Avoid forwarding work to personal email or storage when connectivity fails. Use the business-approved outage process. Keep employee access separate from infrastructure administration. Exercise: describe the safe next step when the approved remote connection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PC-03; PC-04; PC-13; SEC-01. Guest internet access and restrictions are design requirements whose acceptance must be confirmed separately. A contractor needing internal files uses individually approved permissions, not staff credentials or an unrestricted network connection. The sponsor supplies the end date and resource owner approval. IT records access removal, and the asset custodian records returned devices. Exercise: distinguish guest internet access from authorised internal file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PC-08 Clean Desk Policy; PC-09; PC-04. Lock immediately whenever leaving a device. Clear whiteboards and collect papers according to the approved classification and retention rules. Preserve required business records before disposal. Return loan devices through the asset process. Exercise: demonstrate a screen lock and describe where a confidential printout belongs at the end of a shift.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PC-04; PC-09; PC-11; PC-14; SEC-03. For a device, give the asset identifier, location, account and circumstances. For misdirected information, give the recipient, file, service and sharing method without redistributing the sensitive contents. Avoid assuming that email recall or link removal fully contains the disclosure. The authorised responder coordinates restrictions, evidence and any required notifications. Do not attempt remote wiping without approval. Exercise: practise an incident report using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PC-14; SEC-03 Notification Escalation Procedure; SEC-04 Logging Evidence Procedure; Security Incident Register. Before delivery, the facilitator supplies the approved primary and backup contacts and acknowledgement interval. No contact details or operational response timings are invented here. Preserve relevant messages and screenshots only when safe, and use the approved evidence channel. Avoid deleting logs, restarting or altering affected equipment unless the responder directs it or immediate physical safety requires action. Record the incident reference and responder instructions. A delivered email or resolved monitoring alert alone does not close the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PC-03; PC-14. Proposed process for organisational approval. Record the reason, affected resource, risks, compensating controls, approving authority, start and expiry dates. The requester must not approve their own exception. An urgent task does not justify disabling controls. Managers notify IT of role changes and departures so IT can remove obsolete access and revoke sessions as appropriate. Asset return follows PC-04. Exercise: explain how a temporary privilege request 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answer guide: (1) keep credentials private and request the contractor’s own approved access, (2) report immediately with file, recipient and time details, follow containment instructions, (3) leave the drive disconnected and hand it to the nominated responder. Ask learners to name the responsible owner, the next action and the record required for each scenario. Use synthetic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PC-01 version 0.2, 3 October 2026. Expanded proposed acceptable-use training. Suggested session: 30–40 minutes, adjusted for discussion. Source materials: PC-03, PC-04, PC-08, PC-09, PC-11, PC-13, PC-14 and SEC-01–SEC-05. Facilitator checks each learner can describe the approval route, minimum file permissions, suspicious-message response and primary/backup reporting routes. Record learner, date, facilitator, version, practical checks and follow-up coaching. Confirm approved contacts and policy exceptions before delivery. Preparation of this deck does not establish policy approval or learner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7383ead83b4a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6ed6ac75e447a5" /><Relationship Type="http://schemas.openxmlformats.org/officeDocument/2006/relationships/slideLayout" Target="/ppt/slideLayouts/slideLayout1.xml" Id="Rad1a6eecc2864f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1a6eecc2864f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275988a1d84cfe" /><Relationship Type="http://schemas.openxmlformats.org/officeDocument/2006/relationships/notesSlide" Target="/ppt/notesSlides/notesSlide1.xml" Id="Rb66f0328e2c14c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82c9d2f3da4ad6" /><Relationship Type="http://schemas.openxmlformats.org/officeDocument/2006/relationships/notesSlide" Target="/ppt/notesSlides/notesSlide2.xml" Id="Rbae5f20bb55043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5c889aa6644115" /><Relationship Type="http://schemas.openxmlformats.org/officeDocument/2006/relationships/notesSlide" Target="/ppt/notesSlides/notesSlide3.xml" Id="R3675375d9c7844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d2e56b5d504e12" /><Relationship Type="http://schemas.openxmlformats.org/officeDocument/2006/relationships/notesSlide" Target="/ppt/notesSlides/notesSlide4.xml" Id="R0112794b72a34b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4a4938adce4912" /><Relationship Type="http://schemas.openxmlformats.org/officeDocument/2006/relationships/notesSlide" Target="/ppt/notesSlides/notesSlide5.xml" Id="R80825d34cf2d46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2b6b9f7e4342bd" /><Relationship Type="http://schemas.openxmlformats.org/officeDocument/2006/relationships/notesSlide" Target="/ppt/notesSlides/notesSlide6.xml" Id="R9738f41f80b744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05dcf86d6444e1" /><Relationship Type="http://schemas.openxmlformats.org/officeDocument/2006/relationships/notesSlide" Target="/ppt/notesSlides/notesSlide7.xml" Id="R60ca81bc19e848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68e086997047e7" /><Relationship Type="http://schemas.openxmlformats.org/officeDocument/2006/relationships/notesSlide" Target="/ppt/notesSlides/notesSlide8.xml" Id="R776f56eef51545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765f0e5cf14cd6" /><Relationship Type="http://schemas.openxmlformats.org/officeDocument/2006/relationships/notesSlide" Target="/ppt/notesSlides/notesSlide9.xml" Id="R9bad75d17a0145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9126f8e5774142" /><Relationship Type="http://schemas.openxmlformats.org/officeDocument/2006/relationships/notesSlide" Target="/ppt/notesSlides/notesSlide10.xml" Id="R15f293c5062248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11a34341084bed" /><Relationship Type="http://schemas.openxmlformats.org/officeDocument/2006/relationships/notesSlide" Target="/ppt/notesSlides/notesSlide11.xml" Id="Rd0c47f8a9a924b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f004b3b7c0499f" /><Relationship Type="http://schemas.openxmlformats.org/officeDocument/2006/relationships/notesSlide" Target="/ppt/notesSlides/notesSlide12.xml" Id="R97f08a040c5e46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e8f06090d249aa" /><Relationship Type="http://schemas.openxmlformats.org/officeDocument/2006/relationships/notesSlide" Target="/ppt/notesSlides/notesSlide13.xml" Id="R0412c8be9e1d48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5c600882a344e0" /><Relationship Type="http://schemas.openxmlformats.org/officeDocument/2006/relationships/notesSlide" Target="/ppt/notesSlides/notesSlide14.xml" Id="R7e647382e42649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7e4cf520e44d14" /><Relationship Type="http://schemas.openxmlformats.org/officeDocument/2006/relationships/notesSlide" Target="/ppt/notesSlides/notesSlide15.xml" Id="Rfbcb025949d449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5e3761266f4aca" /><Relationship Type="http://schemas.openxmlformats.org/officeDocument/2006/relationships/notesSlide" Target="/ppt/notesSlides/notesSlide16.xml" Id="R0e2cd757569346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1b3733cc05d48a3" /><Relationship Type="http://schemas.openxmlformats.org/officeDocument/2006/relationships/notesSlide" Target="/ppt/notesSlides/notesSlide17.xml" Id="Rb347e1732e3547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943ad612bc4e6b" /><Relationship Type="http://schemas.openxmlformats.org/officeDocument/2006/relationships/notesSlide" Target="/ppt/notesSlides/notesSlide18.xml" Id="Rd84bd9c99b4e45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7edfce8607e4b36" /><Relationship Type="http://schemas.openxmlformats.org/officeDocument/2006/relationships/notesSlide" Target="/ppt/notesSlides/notesSlide19.xml" Id="R23442973b5de42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930f1723a144aae" /><Relationship Type="http://schemas.openxmlformats.org/officeDocument/2006/relationships/notesSlide" Target="/ppt/notesSlides/notesSlide20.xml" Id="Rdb5a59c01fde4651" /></Relationships>
</file>

<file path=ppt/slides/slide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034B52-8660-44CA-AF35-DD1D3197F36C}"/>
              </a:ext>
            </a:extLst>
          </p:cNvPr>
          <p:cNvSpPr>
            <a:spLocks xmlns:a="http://schemas.openxmlformats.org/drawingml/2006/main" noGrp="1"/>
          </p:cNvSpPr>
          <p:nvPr/>
        </p:nvSpPr>
        <p:spPr>
          <a:xfrm xmlns:a="http://schemas.openxmlformats.org/drawingml/2006/main">
            <a:off x="685800" y="1238250"/>
            <a:ext cx="108204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6323F"/>
                </a:solidFill>
                <a:latin typeface="Arial"/>
                <a:ea typeface="Arial"/>
                <a:cs typeface="Arial"/>
              </a:defRPr>
            </a:pPr>
            <a:r>
              <a:rPr sz="4350" b="1">
                <a:solidFill>
                  <a:srgbClr val="16323F"/>
                </a:solidFill>
                <a:latin typeface="Arial"/>
                <a:ea typeface="Arial"/>
                <a:cs typeface="Arial"/>
              </a:rPr>
              <a:t>Acceptable use training</a:t>
            </a:r>
          </a:p>
        </p:txBody>
      </p:sp>
      <p:sp>
        <p:nvSpPr>
          <p:cNvPr id="2" name="">
            <a:extLst xmlns:a="http://schemas.openxmlformats.org/drawingml/2006/main">
              <a:ext uri="{FF2B5EF4-FFF2-40B4-BE49-F238E27FC236}">
                <a16:creationId xmlns:a16="http://schemas.microsoft.com/office/drawing/2014/main" id="{265E8B41-6072-4BF9-8E7B-79868AC4DDCC}"/>
              </a:ext>
            </a:extLst>
          </p:cNvPr>
          <p:cNvSpPr>
            <a:spLocks xmlns:a="http://schemas.openxmlformats.org/drawingml/2006/main" noGrp="1"/>
          </p:cNvSpPr>
          <p:nvPr/>
        </p:nvSpPr>
        <p:spPr>
          <a:xfrm xmlns:a="http://schemas.openxmlformats.org/drawingml/2006/main">
            <a:off x="723900" y="32385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007B77"/>
                </a:solidFill>
                <a:latin typeface="Arial"/>
                <a:ea typeface="Arial"/>
                <a:cs typeface="Arial"/>
              </a:defRPr>
            </a:pPr>
            <a:r>
              <a:rPr sz="2175" b="0">
                <a:solidFill>
                  <a:srgbClr val="007B77"/>
                </a:solidFill>
                <a:latin typeface="Arial"/>
                <a:ea typeface="Arial"/>
                <a:cs typeface="Arial"/>
              </a:rPr>
              <a:t>PrimeCore Minerals</a:t>
            </a:r>
          </a:p>
        </p:txBody>
      </p:sp>
      <p:sp>
        <p:nvSpPr>
          <p:cNvPr id="3" name="">
            <a:extLst xmlns:a="http://schemas.openxmlformats.org/drawingml/2006/main">
              <a:ext uri="{FF2B5EF4-FFF2-40B4-BE49-F238E27FC236}">
                <a16:creationId xmlns:a16="http://schemas.microsoft.com/office/drawing/2014/main" id="{4D339804-14FF-499F-A14A-D793E7EF8A87}"/>
              </a:ext>
            </a:extLst>
          </p:cNvPr>
          <p:cNvSpPr>
            <a:spLocks xmlns:a="http://schemas.openxmlformats.org/drawingml/2006/main" noGrp="1"/>
          </p:cNvSpPr>
          <p:nvPr/>
        </p:nvSpPr>
        <p:spPr>
          <a:xfrm xmlns:a="http://schemas.openxmlformats.org/drawingml/2006/main">
            <a:off x="723900" y="40481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23F"/>
                </a:solidFill>
                <a:latin typeface="Arial"/>
                <a:ea typeface="Arial"/>
                <a:cs typeface="Arial"/>
              </a:defRPr>
            </a:pPr>
            <a:r>
              <a:rPr sz="2175" b="0">
                <a:solidFill>
                  <a:srgbClr val="16323F"/>
                </a:solidFill>
                <a:latin typeface="Arial"/>
                <a:ea typeface="Arial"/>
                <a:cs typeface="Arial"/>
              </a:rPr>
              <a:t>Everyday decisions for staff and contractors</a:t>
            </a:r>
          </a:p>
        </p:txBody>
      </p:sp>
      <p:sp>
        <p:nvSpPr>
          <p:cNvPr id="4" name="">
            <a:extLst xmlns:a="http://schemas.openxmlformats.org/drawingml/2006/main">
              <a:ext uri="{FF2B5EF4-FFF2-40B4-BE49-F238E27FC236}">
                <a16:creationId xmlns:a16="http://schemas.microsoft.com/office/drawing/2014/main" id="{60DFB3E2-5F94-4F97-83B0-B63B0B4A5639}"/>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1</a:t>
            </a:r>
          </a:p>
        </p:txBody>
      </p:sp>
    </p:spTree>
    <p:extLst>
      <p:ext uri="{BB962C8B-B14F-4D97-AF65-F5344CB8AC3E}">
        <p14:creationId xmlns:p14="http://schemas.microsoft.com/office/powerpoint/2010/main" val="24918332"/>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E5806F-B9A3-4B0A-9A2B-75ADBDF855F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6323F"/>
                </a:solidFill>
                <a:latin typeface="Arial"/>
                <a:ea typeface="Arial"/>
                <a:cs typeface="Arial"/>
              </a:defRPr>
            </a:pPr>
            <a:r>
              <a:rPr sz="3225" b="1">
                <a:solidFill>
                  <a:srgbClr val="16323F"/>
                </a:solidFill>
                <a:latin typeface="Arial"/>
                <a:ea typeface="Arial"/>
                <a:cs typeface="Arial"/>
              </a:rPr>
              <a:t>Approved work and access</a:t>
            </a:r>
          </a:p>
        </p:txBody>
      </p:sp>
      <p:sp>
        <p:nvSpPr>
          <p:cNvPr id="2" name="">
            <a:extLst xmlns:a="http://schemas.openxmlformats.org/drawingml/2006/main">
              <a:ext uri="{FF2B5EF4-FFF2-40B4-BE49-F238E27FC236}">
                <a16:creationId xmlns:a16="http://schemas.microsoft.com/office/drawing/2014/main" id="{530B9D14-2A61-4A12-B8A6-722041624092}"/>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7B77"/>
                </a:solidFill>
                <a:latin typeface="Arial"/>
                <a:ea typeface="Arial"/>
                <a:cs typeface="Arial"/>
              </a:defRPr>
            </a:pPr>
            <a:r>
              <a:rPr sz="2100" b="0">
                <a:solidFill>
                  <a:srgbClr val="007B77"/>
                </a:solidFill>
                <a:latin typeface="Arial"/>
                <a:ea typeface="Arial"/>
                <a:cs typeface="Arial"/>
              </a:rPr>
              <a:t>Use approved devices, accounts and business services.</a:t>
            </a:r>
          </a:p>
        </p:txBody>
      </p:sp>
      <p:sp>
        <p:nvSpPr>
          <p:cNvPr id="3" name="">
            <a:extLst xmlns:a="http://schemas.openxmlformats.org/drawingml/2006/main">
              <a:ext uri="{FF2B5EF4-FFF2-40B4-BE49-F238E27FC236}">
                <a16:creationId xmlns:a16="http://schemas.microsoft.com/office/drawing/2014/main" id="{9BE406F9-C276-4498-8A4A-A09DDCA71237}"/>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Access only the resources your role authorises.</a:t>
            </a:r>
          </a:p>
        </p:txBody>
      </p:sp>
      <p:sp>
        <p:nvSpPr>
          <p:cNvPr id="4" name="">
            <a:extLst xmlns:a="http://schemas.openxmlformats.org/drawingml/2006/main">
              <a:ext uri="{FF2B5EF4-FFF2-40B4-BE49-F238E27FC236}">
                <a16:creationId xmlns:a16="http://schemas.microsoft.com/office/drawing/2014/main" id="{AEA006BF-3192-47D4-B2B7-57B76CD24F28}"/>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Request new access through your manager and resource owner.</a:t>
            </a:r>
          </a:p>
        </p:txBody>
      </p:sp>
      <p:sp>
        <p:nvSpPr>
          <p:cNvPr id="5" name="">
            <a:extLst xmlns:a="http://schemas.openxmlformats.org/drawingml/2006/main">
              <a:ext uri="{FF2B5EF4-FFF2-40B4-BE49-F238E27FC236}">
                <a16:creationId xmlns:a16="http://schemas.microsoft.com/office/drawing/2014/main" id="{6FE55512-A648-4CE5-8FC6-941FBD86CA0C}"/>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2</a:t>
            </a:r>
          </a:p>
        </p:txBody>
      </p:sp>
    </p:spTree>
    <p:extLst>
      <p:ext uri="{BB962C8B-B14F-4D97-AF65-F5344CB8AC3E}">
        <p14:creationId xmlns:p14="http://schemas.microsoft.com/office/powerpoint/2010/main" val="192599694"/>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9108C3-D743-4AB6-8494-FE84A11E9EBD}"/>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6323F"/>
                </a:solidFill>
                <a:latin typeface="Arial"/>
                <a:ea typeface="Arial"/>
                <a:cs typeface="Arial"/>
              </a:defRPr>
            </a:pPr>
            <a:r>
              <a:rPr sz="3225" b="1">
                <a:solidFill>
                  <a:srgbClr val="16323F"/>
                </a:solidFill>
                <a:latin typeface="Arial"/>
                <a:ea typeface="Arial"/>
                <a:cs typeface="Arial"/>
              </a:rPr>
              <a:t>Information handling</a:t>
            </a:r>
          </a:p>
        </p:txBody>
      </p:sp>
      <p:sp>
        <p:nvSpPr>
          <p:cNvPr id="2" name="">
            <a:extLst xmlns:a="http://schemas.openxmlformats.org/drawingml/2006/main">
              <a:ext uri="{FF2B5EF4-FFF2-40B4-BE49-F238E27FC236}">
                <a16:creationId xmlns:a16="http://schemas.microsoft.com/office/drawing/2014/main" id="{7B7BEF62-4C8E-4A2A-8575-0338B15AD2F9}"/>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7B77"/>
                </a:solidFill>
                <a:latin typeface="Arial"/>
                <a:ea typeface="Arial"/>
                <a:cs typeface="Arial"/>
              </a:defRPr>
            </a:pPr>
            <a:r>
              <a:rPr sz="2100" b="0">
                <a:solidFill>
                  <a:srgbClr val="007B77"/>
                </a:solidFill>
                <a:latin typeface="Arial"/>
                <a:ea typeface="Arial"/>
                <a:cs typeface="Arial"/>
              </a:rPr>
              <a:t>Keep project files in approved storage.</a:t>
            </a:r>
          </a:p>
        </p:txBody>
      </p:sp>
      <p:sp>
        <p:nvSpPr>
          <p:cNvPr id="3" name="">
            <a:extLst xmlns:a="http://schemas.openxmlformats.org/drawingml/2006/main">
              <a:ext uri="{FF2B5EF4-FFF2-40B4-BE49-F238E27FC236}">
                <a16:creationId xmlns:a16="http://schemas.microsoft.com/office/drawing/2014/main" id="{926C4D36-DA15-436E-9BC9-B58860234F82}"/>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Check recipients and link permissions before sharing.</a:t>
            </a:r>
          </a:p>
        </p:txBody>
      </p:sp>
      <p:sp>
        <p:nvSpPr>
          <p:cNvPr id="4" name="">
            <a:extLst xmlns:a="http://schemas.openxmlformats.org/drawingml/2006/main">
              <a:ext uri="{FF2B5EF4-FFF2-40B4-BE49-F238E27FC236}">
                <a16:creationId xmlns:a16="http://schemas.microsoft.com/office/drawing/2014/main" id="{DA178508-B333-49F8-B1CB-ADBE75BF7DEA}"/>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Keep passwords, recovery codes and incident evidence private.</a:t>
            </a:r>
          </a:p>
        </p:txBody>
      </p:sp>
      <p:sp>
        <p:nvSpPr>
          <p:cNvPr id="5" name="">
            <a:extLst xmlns:a="http://schemas.openxmlformats.org/drawingml/2006/main">
              <a:ext uri="{FF2B5EF4-FFF2-40B4-BE49-F238E27FC236}">
                <a16:creationId xmlns:a16="http://schemas.microsoft.com/office/drawing/2014/main" id="{1FF8054E-ED17-46EA-8007-C3A55B418004}"/>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3</a:t>
            </a:r>
          </a:p>
        </p:txBody>
      </p:sp>
    </p:spTree>
    <p:extLst>
      <p:ext uri="{BB962C8B-B14F-4D97-AF65-F5344CB8AC3E}">
        <p14:creationId xmlns:p14="http://schemas.microsoft.com/office/powerpoint/2010/main" val="1616732371"/>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AAEF84-24FD-484A-9390-799E95EB415C}"/>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6323F"/>
                </a:solidFill>
                <a:latin typeface="Arial"/>
                <a:ea typeface="Arial"/>
                <a:cs typeface="Arial"/>
              </a:defRPr>
            </a:pPr>
            <a:r>
              <a:rPr sz="3225" b="1">
                <a:solidFill>
                  <a:srgbClr val="16323F"/>
                </a:solidFill>
                <a:latin typeface="Arial"/>
                <a:ea typeface="Arial"/>
                <a:cs typeface="Arial"/>
              </a:rPr>
              <a:t>Devices and workspaces</a:t>
            </a:r>
          </a:p>
        </p:txBody>
      </p:sp>
      <p:sp>
        <p:nvSpPr>
          <p:cNvPr id="2" name="">
            <a:extLst xmlns:a="http://schemas.openxmlformats.org/drawingml/2006/main">
              <a:ext uri="{FF2B5EF4-FFF2-40B4-BE49-F238E27FC236}">
                <a16:creationId xmlns:a16="http://schemas.microsoft.com/office/drawing/2014/main" id="{8049B07D-948C-4DAA-A436-D9B0E905F98B}"/>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7B77"/>
                </a:solidFill>
                <a:latin typeface="Arial"/>
                <a:ea typeface="Arial"/>
                <a:cs typeface="Arial"/>
              </a:defRPr>
            </a:pPr>
            <a:r>
              <a:rPr sz="2100" b="0">
                <a:solidFill>
                  <a:srgbClr val="007B77"/>
                </a:solidFill>
                <a:latin typeface="Arial"/>
                <a:ea typeface="Arial"/>
                <a:cs typeface="Arial"/>
              </a:rPr>
              <a:t>Lock your screen whenever you leave the device.</a:t>
            </a:r>
          </a:p>
        </p:txBody>
      </p:sp>
      <p:sp>
        <p:nvSpPr>
          <p:cNvPr id="3" name="">
            <a:extLst xmlns:a="http://schemas.openxmlformats.org/drawingml/2006/main">
              <a:ext uri="{FF2B5EF4-FFF2-40B4-BE49-F238E27FC236}">
                <a16:creationId xmlns:a16="http://schemas.microsoft.com/office/drawing/2014/main" id="{F25760A1-F0AF-43C7-AAA6-5FC8E3A5B6E6}"/>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Secure paper records and collect printing promptly.</a:t>
            </a:r>
          </a:p>
        </p:txBody>
      </p:sp>
      <p:sp>
        <p:nvSpPr>
          <p:cNvPr id="4" name="">
            <a:extLst xmlns:a="http://schemas.openxmlformats.org/drawingml/2006/main">
              <a:ext uri="{FF2B5EF4-FFF2-40B4-BE49-F238E27FC236}">
                <a16:creationId xmlns:a16="http://schemas.microsoft.com/office/drawing/2014/main" id="{EF530F9F-A418-4A20-9FF5-A9192A48AB38}"/>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Report missing equipment through the incident route.</a:t>
            </a:r>
          </a:p>
        </p:txBody>
      </p:sp>
      <p:sp>
        <p:nvSpPr>
          <p:cNvPr id="5" name="">
            <a:extLst xmlns:a="http://schemas.openxmlformats.org/drawingml/2006/main">
              <a:ext uri="{FF2B5EF4-FFF2-40B4-BE49-F238E27FC236}">
                <a16:creationId xmlns:a16="http://schemas.microsoft.com/office/drawing/2014/main" id="{B21DD4D4-EBEF-4A0C-AFDE-B6FFD26E22B4}"/>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4</a:t>
            </a:r>
          </a:p>
        </p:txBody>
      </p:sp>
    </p:spTree>
    <p:extLst>
      <p:ext uri="{BB962C8B-B14F-4D97-AF65-F5344CB8AC3E}">
        <p14:creationId xmlns:p14="http://schemas.microsoft.com/office/powerpoint/2010/main" val="1117627986"/>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73AD9B-40C1-4968-9613-FBBD8B747B15}"/>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6323F"/>
                </a:solidFill>
                <a:latin typeface="Arial"/>
                <a:ea typeface="Arial"/>
                <a:cs typeface="Arial"/>
              </a:defRPr>
            </a:pPr>
            <a:r>
              <a:rPr sz="3225" b="1">
                <a:solidFill>
                  <a:srgbClr val="16323F"/>
                </a:solidFill>
                <a:latin typeface="Arial"/>
                <a:ea typeface="Arial"/>
                <a:cs typeface="Arial"/>
              </a:rPr>
              <a:t>Network and software use</a:t>
            </a:r>
          </a:p>
        </p:txBody>
      </p:sp>
      <p:sp>
        <p:nvSpPr>
          <p:cNvPr id="2" name="">
            <a:extLst xmlns:a="http://schemas.openxmlformats.org/drawingml/2006/main">
              <a:ext uri="{FF2B5EF4-FFF2-40B4-BE49-F238E27FC236}">
                <a16:creationId xmlns:a16="http://schemas.microsoft.com/office/drawing/2014/main" id="{B8A13A1B-7FFD-4B8F-A8B2-71EEEB8F68A1}"/>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7B77"/>
                </a:solidFill>
                <a:latin typeface="Arial"/>
                <a:ea typeface="Arial"/>
                <a:cs typeface="Arial"/>
              </a:defRPr>
            </a:pPr>
            <a:r>
              <a:rPr sz="2100" b="0">
                <a:solidFill>
                  <a:srgbClr val="007B77"/>
                </a:solidFill>
                <a:latin typeface="Arial"/>
                <a:ea typeface="Arial"/>
                <a:cs typeface="Arial"/>
              </a:rPr>
              <a:t>Use the approved network and remote access method.</a:t>
            </a:r>
          </a:p>
        </p:txBody>
      </p:sp>
      <p:sp>
        <p:nvSpPr>
          <p:cNvPr id="3" name="">
            <a:extLst xmlns:a="http://schemas.openxmlformats.org/drawingml/2006/main">
              <a:ext uri="{FF2B5EF4-FFF2-40B4-BE49-F238E27FC236}">
                <a16:creationId xmlns:a16="http://schemas.microsoft.com/office/drawing/2014/main" id="{9FBE00E8-FE3F-4C52-A6DE-A562BA3B9662}"/>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Ask IT before installing software or connecting unknown media.</a:t>
            </a:r>
          </a:p>
        </p:txBody>
      </p:sp>
      <p:sp>
        <p:nvSpPr>
          <p:cNvPr id="4" name="">
            <a:extLst xmlns:a="http://schemas.openxmlformats.org/drawingml/2006/main">
              <a:ext uri="{FF2B5EF4-FFF2-40B4-BE49-F238E27FC236}">
                <a16:creationId xmlns:a16="http://schemas.microsoft.com/office/drawing/2014/main" id="{A485D8ED-56AA-42BA-B887-F944F4D778B9}"/>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Do not bypass access restrictions or disable security controls.</a:t>
            </a:r>
          </a:p>
        </p:txBody>
      </p:sp>
      <p:sp>
        <p:nvSpPr>
          <p:cNvPr id="5" name="">
            <a:extLst xmlns:a="http://schemas.openxmlformats.org/drawingml/2006/main">
              <a:ext uri="{FF2B5EF4-FFF2-40B4-BE49-F238E27FC236}">
                <a16:creationId xmlns:a16="http://schemas.microsoft.com/office/drawing/2014/main" id="{65F6FCAC-A0C2-4D0C-B6A1-C34CB5BD385C}"/>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5</a:t>
            </a:r>
          </a:p>
        </p:txBody>
      </p:sp>
    </p:spTree>
    <p:extLst>
      <p:ext uri="{BB962C8B-B14F-4D97-AF65-F5344CB8AC3E}">
        <p14:creationId xmlns:p14="http://schemas.microsoft.com/office/powerpoint/2010/main" val="789491995"/>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DECA92-7ECA-4E72-83F7-817A4DD69EDC}"/>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6323F"/>
                </a:solidFill>
                <a:latin typeface="Arial"/>
                <a:ea typeface="Arial"/>
                <a:cs typeface="Arial"/>
              </a:defRPr>
            </a:pPr>
            <a:r>
              <a:rPr sz="3225" b="1">
                <a:solidFill>
                  <a:srgbClr val="16323F"/>
                </a:solidFill>
                <a:latin typeface="Arial"/>
                <a:ea typeface="Arial"/>
                <a:cs typeface="Arial"/>
              </a:rPr>
              <a:t>Scenario: an urgent file request</a:t>
            </a:r>
          </a:p>
        </p:txBody>
      </p:sp>
      <p:sp>
        <p:nvSpPr>
          <p:cNvPr id="2" name="">
            <a:extLst xmlns:a="http://schemas.openxmlformats.org/drawingml/2006/main">
              <a:ext uri="{FF2B5EF4-FFF2-40B4-BE49-F238E27FC236}">
                <a16:creationId xmlns:a16="http://schemas.microsoft.com/office/drawing/2014/main" id="{6916537A-3738-4C3A-BB40-CFD4D696C912}"/>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7B77"/>
                </a:solidFill>
                <a:latin typeface="Arial"/>
                <a:ea typeface="Arial"/>
                <a:cs typeface="Arial"/>
              </a:defRPr>
            </a:pPr>
            <a:r>
              <a:rPr sz="2100" b="0">
                <a:solidFill>
                  <a:srgbClr val="007B77"/>
                </a:solidFill>
                <a:latin typeface="Arial"/>
                <a:ea typeface="Arial"/>
                <a:cs typeface="Arial"/>
              </a:rPr>
              <a:t>A message asks you to upload project files to a new website.</a:t>
            </a:r>
          </a:p>
        </p:txBody>
      </p:sp>
      <p:sp>
        <p:nvSpPr>
          <p:cNvPr id="3" name="">
            <a:extLst xmlns:a="http://schemas.openxmlformats.org/drawingml/2006/main">
              <a:ext uri="{FF2B5EF4-FFF2-40B4-BE49-F238E27FC236}">
                <a16:creationId xmlns:a16="http://schemas.microsoft.com/office/drawing/2014/main" id="{E7F106DC-1E83-4EE5-9B20-E297E186525F}"/>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The sender says the normal approval can wait.</a:t>
            </a:r>
          </a:p>
        </p:txBody>
      </p:sp>
      <p:sp>
        <p:nvSpPr>
          <p:cNvPr id="4" name="">
            <a:extLst xmlns:a="http://schemas.openxmlformats.org/drawingml/2006/main">
              <a:ext uri="{FF2B5EF4-FFF2-40B4-BE49-F238E27FC236}">
                <a16:creationId xmlns:a16="http://schemas.microsoft.com/office/drawing/2014/main" id="{8A447128-D626-4904-A39C-5D8958838D6A}"/>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What would you check before sharing anything?</a:t>
            </a:r>
          </a:p>
        </p:txBody>
      </p:sp>
      <p:sp>
        <p:nvSpPr>
          <p:cNvPr id="5" name="">
            <a:extLst xmlns:a="http://schemas.openxmlformats.org/drawingml/2006/main">
              <a:ext uri="{FF2B5EF4-FFF2-40B4-BE49-F238E27FC236}">
                <a16:creationId xmlns:a16="http://schemas.microsoft.com/office/drawing/2014/main" id="{C83506AD-AF76-4C65-B928-89808BDE6540}"/>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6</a:t>
            </a:r>
          </a:p>
        </p:txBody>
      </p:sp>
    </p:spTree>
    <p:extLst>
      <p:ext uri="{BB962C8B-B14F-4D97-AF65-F5344CB8AC3E}">
        <p14:creationId xmlns:p14="http://schemas.microsoft.com/office/powerpoint/2010/main" val="1501025897"/>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2FEAAE-3D21-480D-926B-50D9B99DDD89}"/>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6323F"/>
                </a:solidFill>
                <a:latin typeface="Arial"/>
                <a:ea typeface="Arial"/>
                <a:cs typeface="Arial"/>
              </a:defRPr>
            </a:pPr>
            <a:r>
              <a:rPr sz="3225" b="1">
                <a:solidFill>
                  <a:srgbClr val="16323F"/>
                </a:solidFill>
                <a:latin typeface="Arial"/>
                <a:ea typeface="Arial"/>
                <a:cs typeface="Arial"/>
              </a:rPr>
              <a:t>Reporting a suspected incident</a:t>
            </a:r>
          </a:p>
        </p:txBody>
      </p:sp>
      <p:sp>
        <p:nvSpPr>
          <p:cNvPr id="2" name="">
            <a:extLst xmlns:a="http://schemas.openxmlformats.org/drawingml/2006/main">
              <a:ext uri="{FF2B5EF4-FFF2-40B4-BE49-F238E27FC236}">
                <a16:creationId xmlns:a16="http://schemas.microsoft.com/office/drawing/2014/main" id="{645A3008-03D3-4235-B14E-D343048737E9}"/>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7B77"/>
                </a:solidFill>
                <a:latin typeface="Arial"/>
                <a:ea typeface="Arial"/>
                <a:cs typeface="Arial"/>
              </a:defRPr>
            </a:pPr>
            <a:r>
              <a:rPr sz="2100" b="0">
                <a:solidFill>
                  <a:srgbClr val="007B77"/>
                </a:solidFill>
                <a:latin typeface="Arial"/>
                <a:ea typeface="Arial"/>
                <a:cs typeface="Arial"/>
              </a:rPr>
              <a:t>Contact the nominated IT Administrator through a known route.</a:t>
            </a:r>
          </a:p>
        </p:txBody>
      </p:sp>
      <p:sp>
        <p:nvSpPr>
          <p:cNvPr id="3" name="">
            <a:extLst xmlns:a="http://schemas.openxmlformats.org/drawingml/2006/main">
              <a:ext uri="{FF2B5EF4-FFF2-40B4-BE49-F238E27FC236}">
                <a16:creationId xmlns:a16="http://schemas.microsoft.com/office/drawing/2014/main" id="{0AA43C3F-3D4B-4C69-AF96-35F79E932C5A}"/>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Record what happened, when, and which device or account is involved.</a:t>
            </a:r>
          </a:p>
        </p:txBody>
      </p:sp>
      <p:sp>
        <p:nvSpPr>
          <p:cNvPr id="4" name="">
            <a:extLst xmlns:a="http://schemas.openxmlformats.org/drawingml/2006/main">
              <a:ext uri="{FF2B5EF4-FFF2-40B4-BE49-F238E27FC236}">
                <a16:creationId xmlns:a16="http://schemas.microsoft.com/office/drawing/2014/main" id="{568C7A04-3A17-4CA0-9838-9AABF89CE8D1}"/>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Preserve evidence and follow the responder’s instructions.</a:t>
            </a:r>
          </a:p>
        </p:txBody>
      </p:sp>
      <p:sp>
        <p:nvSpPr>
          <p:cNvPr id="5" name="">
            <a:extLst xmlns:a="http://schemas.openxmlformats.org/drawingml/2006/main">
              <a:ext uri="{FF2B5EF4-FFF2-40B4-BE49-F238E27FC236}">
                <a16:creationId xmlns:a16="http://schemas.microsoft.com/office/drawing/2014/main" id="{8389ADE8-9461-4516-AB36-E03073081532}"/>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7</a:t>
            </a:r>
          </a:p>
        </p:txBody>
      </p:sp>
    </p:spTree>
    <p:extLst>
      <p:ext uri="{BB962C8B-B14F-4D97-AF65-F5344CB8AC3E}">
        <p14:creationId xmlns:p14="http://schemas.microsoft.com/office/powerpoint/2010/main" val="798572979"/>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7E120E-CE7E-4D59-B12E-B955B498EB24}"/>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6323F"/>
                </a:solidFill>
                <a:latin typeface="Arial"/>
                <a:ea typeface="Arial"/>
                <a:cs typeface="Arial"/>
              </a:defRPr>
            </a:pPr>
            <a:r>
              <a:rPr sz="3225" b="1">
                <a:solidFill>
                  <a:srgbClr val="16323F"/>
                </a:solidFill>
                <a:latin typeface="Arial"/>
                <a:ea typeface="Arial"/>
                <a:cs typeface="Arial"/>
              </a:rPr>
              <a:t>Access request procedure</a:t>
            </a:r>
          </a:p>
        </p:txBody>
      </p:sp>
      <p:sp>
        <p:nvSpPr>
          <p:cNvPr id="2" name="">
            <a:extLst xmlns:a="http://schemas.openxmlformats.org/drawingml/2006/main">
              <a:ext uri="{FF2B5EF4-FFF2-40B4-BE49-F238E27FC236}">
                <a16:creationId xmlns:a16="http://schemas.microsoft.com/office/drawing/2014/main" id="{7F7C807C-99FD-4952-9FA4-BDDA5C6D7934}"/>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7B77"/>
                </a:solidFill>
                <a:latin typeface="Arial"/>
                <a:ea typeface="Arial"/>
                <a:cs typeface="Arial"/>
              </a:defRPr>
            </a:pPr>
            <a:r>
              <a:rPr sz="2100" b="0">
                <a:solidFill>
                  <a:srgbClr val="007B77"/>
                </a:solidFill>
                <a:latin typeface="Arial"/>
                <a:ea typeface="Arial"/>
                <a:cs typeface="Arial"/>
              </a:rPr>
              <a:t>1. Tell your manager which resource and task need access.</a:t>
            </a:r>
          </a:p>
        </p:txBody>
      </p:sp>
      <p:sp>
        <p:nvSpPr>
          <p:cNvPr id="3" name="">
            <a:extLst xmlns:a="http://schemas.openxmlformats.org/drawingml/2006/main">
              <a:ext uri="{FF2B5EF4-FFF2-40B4-BE49-F238E27FC236}">
                <a16:creationId xmlns:a16="http://schemas.microsoft.com/office/drawing/2014/main" id="{CA74E9E8-CF23-4ED7-BDA5-02B2CB05FAED}"/>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2. The resource owner approves the level and expiry.</a:t>
            </a:r>
          </a:p>
        </p:txBody>
      </p:sp>
      <p:sp>
        <p:nvSpPr>
          <p:cNvPr id="4" name="">
            <a:extLst xmlns:a="http://schemas.openxmlformats.org/drawingml/2006/main">
              <a:ext uri="{FF2B5EF4-FFF2-40B4-BE49-F238E27FC236}">
                <a16:creationId xmlns:a16="http://schemas.microsoft.com/office/drawing/2014/main" id="{376465E3-A718-47AE-83CD-E81ED112F093}"/>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F"/>
                </a:solidFill>
                <a:latin typeface="Arial"/>
                <a:ea typeface="Arial"/>
                <a:cs typeface="Arial"/>
              </a:defRPr>
            </a:pPr>
            <a:r>
              <a:rPr sz="2100" b="0">
                <a:solidFill>
                  <a:srgbClr val="16323F"/>
                </a:solidFill>
                <a:latin typeface="Arial"/>
                <a:ea typeface="Arial"/>
                <a:cs typeface="Arial"/>
              </a:rPr>
              <a:t>3. IT records the change. Check access with your own account.</a:t>
            </a:r>
          </a:p>
        </p:txBody>
      </p:sp>
      <p:sp>
        <p:nvSpPr>
          <p:cNvPr id="5" name="">
            <a:extLst xmlns:a="http://schemas.openxmlformats.org/drawingml/2006/main">
              <a:ext uri="{FF2B5EF4-FFF2-40B4-BE49-F238E27FC236}">
                <a16:creationId xmlns:a16="http://schemas.microsoft.com/office/drawing/2014/main" id="{EC40BBC0-3067-45AA-960E-9C018E233253}"/>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66F"/>
                </a:solidFill>
                <a:latin typeface="Arial"/>
                <a:ea typeface="Arial"/>
                <a:cs typeface="Arial"/>
              </a:defRPr>
            </a:pPr>
            <a:r>
              <a:rPr sz="1275" b="0">
                <a:solidFill>
                  <a:srgbClr val="52666F"/>
                </a:solidFill>
                <a:latin typeface="Arial"/>
                <a:ea typeface="Arial"/>
                <a:cs typeface="Arial"/>
              </a:rPr>
              <a:t>PrimeCore Minerals   |   8</a:t>
            </a:r>
          </a:p>
        </p:txBody>
      </p:sp>
    </p:spTree>
    <p:extLst>
      <p:ext uri="{BB962C8B-B14F-4D97-AF65-F5344CB8AC3E}">
        <p14:creationId xmlns:p14="http://schemas.microsoft.com/office/powerpoint/2010/main" val="1841219381"/>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FB448C-244E-400F-85C1-54A033F08212}"/>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Daily sign-in and account recovery</a:t>
            </a:r>
          </a:p>
        </p:txBody>
      </p:sp>
      <p:sp>
        <p:nvSpPr>
          <p:cNvPr id="2" name="">
            <a:extLst xmlns:a="http://schemas.openxmlformats.org/drawingml/2006/main">
              <a:ext uri="{FF2B5EF4-FFF2-40B4-BE49-F238E27FC236}">
                <a16:creationId xmlns:a16="http://schemas.microsoft.com/office/drawing/2014/main" id="{3032CEA6-611F-4C0B-8D8E-867B44C1B1C7}"/>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Use your assigned account on an approved device.</a:t>
            </a:r>
          </a:p>
        </p:txBody>
      </p:sp>
      <p:sp>
        <p:nvSpPr>
          <p:cNvPr id="3" name="">
            <a:extLst xmlns:a="http://schemas.openxmlformats.org/drawingml/2006/main">
              <a:ext uri="{FF2B5EF4-FFF2-40B4-BE49-F238E27FC236}">
                <a16:creationId xmlns:a16="http://schemas.microsoft.com/office/drawing/2014/main" id="{48F4AD85-84CF-4E18-8F3C-9E2DA4639613}"/>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Approve MFA only for a sign-in you started.</a:t>
            </a:r>
          </a:p>
        </p:txBody>
      </p:sp>
      <p:sp>
        <p:nvSpPr>
          <p:cNvPr id="4" name="">
            <a:extLst xmlns:a="http://schemas.openxmlformats.org/drawingml/2006/main">
              <a:ext uri="{FF2B5EF4-FFF2-40B4-BE49-F238E27FC236}">
                <a16:creationId xmlns:a16="http://schemas.microsoft.com/office/drawing/2014/main" id="{8F95C9E2-D969-46A5-A830-02C31205E1DC}"/>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Stop repeated failed attempts and contact IT for recovery.</a:t>
            </a:r>
          </a:p>
        </p:txBody>
      </p:sp>
      <p:sp>
        <p:nvSpPr>
          <p:cNvPr id="5" name="">
            <a:extLst xmlns:a="http://schemas.openxmlformats.org/drawingml/2006/main">
              <a:ext uri="{FF2B5EF4-FFF2-40B4-BE49-F238E27FC236}">
                <a16:creationId xmlns:a16="http://schemas.microsoft.com/office/drawing/2014/main" id="{715B1369-D9C6-4B2A-9BF0-43E7642EC3BF}"/>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9</a:t>
            </a:r>
          </a:p>
        </p:txBody>
      </p:sp>
    </p:spTree>
    <p:extLst>
      <p:ext uri="{BB962C8B-B14F-4D97-AF65-F5344CB8AC3E}">
        <p14:creationId xmlns:p14="http://schemas.microsoft.com/office/powerpoint/2010/main" val="261211334"/>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DB2CE6-3CB3-4603-B4A2-F07E893B9B27}"/>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File sharing procedure</a:t>
            </a:r>
          </a:p>
        </p:txBody>
      </p:sp>
      <p:sp>
        <p:nvSpPr>
          <p:cNvPr id="2" name="">
            <a:extLst xmlns:a="http://schemas.openxmlformats.org/drawingml/2006/main">
              <a:ext uri="{FF2B5EF4-FFF2-40B4-BE49-F238E27FC236}">
                <a16:creationId xmlns:a16="http://schemas.microsoft.com/office/drawing/2014/main" id="{B9891CE0-CEF0-44DA-8C5D-BBC2AAE4FF3B}"/>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Confirm the information owner and intended recipient.</a:t>
            </a:r>
          </a:p>
        </p:txBody>
      </p:sp>
      <p:sp>
        <p:nvSpPr>
          <p:cNvPr id="3" name="">
            <a:extLst xmlns:a="http://schemas.openxmlformats.org/drawingml/2006/main">
              <a:ext uri="{FF2B5EF4-FFF2-40B4-BE49-F238E27FC236}">
                <a16:creationId xmlns:a16="http://schemas.microsoft.com/office/drawing/2014/main" id="{C7EEC9EF-553C-4835-94D1-2B80B4CD8498}"/>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Use approved storage with the minimum sharing rights.</a:t>
            </a:r>
          </a:p>
        </p:txBody>
      </p:sp>
      <p:sp>
        <p:nvSpPr>
          <p:cNvPr id="4" name="">
            <a:extLst xmlns:a="http://schemas.openxmlformats.org/drawingml/2006/main">
              <a:ext uri="{FF2B5EF4-FFF2-40B4-BE49-F238E27FC236}">
                <a16:creationId xmlns:a16="http://schemas.microsoft.com/office/drawing/2014/main" id="{566EB46F-1F3D-4522-952D-D93CAE9965E6}"/>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Check the link, send it securely and remove expired access.</a:t>
            </a:r>
          </a:p>
        </p:txBody>
      </p:sp>
      <p:sp>
        <p:nvSpPr>
          <p:cNvPr id="5" name="">
            <a:extLst xmlns:a="http://schemas.openxmlformats.org/drawingml/2006/main">
              <a:ext uri="{FF2B5EF4-FFF2-40B4-BE49-F238E27FC236}">
                <a16:creationId xmlns:a16="http://schemas.microsoft.com/office/drawing/2014/main" id="{F54C9036-9C2C-473C-901D-5583B0F18C20}"/>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10</a:t>
            </a:r>
          </a:p>
        </p:txBody>
      </p:sp>
    </p:spTree>
    <p:extLst>
      <p:ext uri="{BB962C8B-B14F-4D97-AF65-F5344CB8AC3E}">
        <p14:creationId xmlns:p14="http://schemas.microsoft.com/office/powerpoint/2010/main" val="2144824167"/>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EA4383-9DF1-409C-86F1-A3EA07D7283B}"/>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Email and suspicious message procedure</a:t>
            </a:r>
          </a:p>
        </p:txBody>
      </p:sp>
      <p:sp>
        <p:nvSpPr>
          <p:cNvPr id="2" name="">
            <a:extLst xmlns:a="http://schemas.openxmlformats.org/drawingml/2006/main">
              <a:ext uri="{FF2B5EF4-FFF2-40B4-BE49-F238E27FC236}">
                <a16:creationId xmlns:a16="http://schemas.microsoft.com/office/drawing/2014/main" id="{58C2B2F3-B1A7-459C-BA7F-80CC0BDD8221}"/>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Check the sender and verify unusual requests independently.</a:t>
            </a:r>
          </a:p>
        </p:txBody>
      </p:sp>
      <p:sp>
        <p:nvSpPr>
          <p:cNvPr id="3" name="">
            <a:extLst xmlns:a="http://schemas.openxmlformats.org/drawingml/2006/main">
              <a:ext uri="{FF2B5EF4-FFF2-40B4-BE49-F238E27FC236}">
                <a16:creationId xmlns:a16="http://schemas.microsoft.com/office/drawing/2014/main" id="{434EF050-F45C-4833-9E63-6D323F430A59}"/>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Leave unexpected links and attachments unopened.</a:t>
            </a:r>
          </a:p>
        </p:txBody>
      </p:sp>
      <p:sp>
        <p:nvSpPr>
          <p:cNvPr id="4" name="">
            <a:extLst xmlns:a="http://schemas.openxmlformats.org/drawingml/2006/main">
              <a:ext uri="{FF2B5EF4-FFF2-40B4-BE49-F238E27FC236}">
                <a16:creationId xmlns:a16="http://schemas.microsoft.com/office/drawing/2014/main" id="{62ABFAEA-6762-45F1-92E8-80D21B0DD49A}"/>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Report the message through the known incident route.</a:t>
            </a:r>
          </a:p>
        </p:txBody>
      </p:sp>
      <p:sp>
        <p:nvSpPr>
          <p:cNvPr id="5" name="">
            <a:extLst xmlns:a="http://schemas.openxmlformats.org/drawingml/2006/main">
              <a:ext uri="{FF2B5EF4-FFF2-40B4-BE49-F238E27FC236}">
                <a16:creationId xmlns:a16="http://schemas.microsoft.com/office/drawing/2014/main" id="{FDA9C748-6F75-4634-A3FF-09B058B1B613}"/>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11</a:t>
            </a:r>
          </a:p>
        </p:txBody>
      </p:sp>
    </p:spTree>
    <p:extLst>
      <p:ext uri="{BB962C8B-B14F-4D97-AF65-F5344CB8AC3E}">
        <p14:creationId xmlns:p14="http://schemas.microsoft.com/office/powerpoint/2010/main" val="690783666"/>
      </p:ext>
    </p:extLst>
  </p:cSld>
</p:sld>
</file>

<file path=ppt/slides/slide1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A1F230-EF58-409D-8EA2-6936B036739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Software and removable media procedure</a:t>
            </a:r>
          </a:p>
        </p:txBody>
      </p:sp>
      <p:sp>
        <p:nvSpPr>
          <p:cNvPr id="2" name="">
            <a:extLst xmlns:a="http://schemas.openxmlformats.org/drawingml/2006/main">
              <a:ext uri="{FF2B5EF4-FFF2-40B4-BE49-F238E27FC236}">
                <a16:creationId xmlns:a16="http://schemas.microsoft.com/office/drawing/2014/main" id="{46CCF94F-CEE5-4BF2-8998-6696968486C6}"/>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Request software or USB use with a clear business reason.</a:t>
            </a:r>
          </a:p>
        </p:txBody>
      </p:sp>
      <p:sp>
        <p:nvSpPr>
          <p:cNvPr id="3" name="">
            <a:extLst xmlns:a="http://schemas.openxmlformats.org/drawingml/2006/main">
              <a:ext uri="{FF2B5EF4-FFF2-40B4-BE49-F238E27FC236}">
                <a16:creationId xmlns:a16="http://schemas.microsoft.com/office/drawing/2014/main" id="{25332C05-3E10-4918-9DE9-D79310743F05}"/>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Wait for IT approval and the required security checks.</a:t>
            </a:r>
          </a:p>
        </p:txBody>
      </p:sp>
      <p:sp>
        <p:nvSpPr>
          <p:cNvPr id="4" name="">
            <a:extLst xmlns:a="http://schemas.openxmlformats.org/drawingml/2006/main">
              <a:ext uri="{FF2B5EF4-FFF2-40B4-BE49-F238E27FC236}">
                <a16:creationId xmlns:a16="http://schemas.microsoft.com/office/drawing/2014/main" id="{8D78DD02-A174-473B-A666-13A98C2D5BE8}"/>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Use the approved installation or transfer method.</a:t>
            </a:r>
          </a:p>
        </p:txBody>
      </p:sp>
      <p:sp>
        <p:nvSpPr>
          <p:cNvPr id="5" name="">
            <a:extLst xmlns:a="http://schemas.openxmlformats.org/drawingml/2006/main">
              <a:ext uri="{FF2B5EF4-FFF2-40B4-BE49-F238E27FC236}">
                <a16:creationId xmlns:a16="http://schemas.microsoft.com/office/drawing/2014/main" id="{9ED2F25C-656C-4F5C-ABDF-63071454FBB7}"/>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12</a:t>
            </a:r>
          </a:p>
        </p:txBody>
      </p:sp>
    </p:spTree>
    <p:extLst>
      <p:ext uri="{BB962C8B-B14F-4D97-AF65-F5344CB8AC3E}">
        <p14:creationId xmlns:p14="http://schemas.microsoft.com/office/powerpoint/2010/main" val="1516350232"/>
      </p:ext>
    </p:extLst>
  </p:cSld>
</p:sld>
</file>

<file path=ppt/slides/slide1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2F29D0-609E-4D96-8060-F06EC911DEA6}"/>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Remote work and network access</a:t>
            </a:r>
          </a:p>
        </p:txBody>
      </p:sp>
      <p:sp>
        <p:nvSpPr>
          <p:cNvPr id="2" name="">
            <a:extLst xmlns:a="http://schemas.openxmlformats.org/drawingml/2006/main">
              <a:ext uri="{FF2B5EF4-FFF2-40B4-BE49-F238E27FC236}">
                <a16:creationId xmlns:a16="http://schemas.microsoft.com/office/drawing/2014/main" id="{5E0A5ED2-92D3-419D-B3FB-A7E84908859A}"/>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Use the remote access service that IT has approved.</a:t>
            </a:r>
          </a:p>
        </p:txBody>
      </p:sp>
      <p:sp>
        <p:nvSpPr>
          <p:cNvPr id="3" name="">
            <a:extLst xmlns:a="http://schemas.openxmlformats.org/drawingml/2006/main">
              <a:ext uri="{FF2B5EF4-FFF2-40B4-BE49-F238E27FC236}">
                <a16:creationId xmlns:a16="http://schemas.microsoft.com/office/drawing/2014/main" id="{C869FFF0-EB01-4D6C-9721-CC3DBEF39525}"/>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Protect the device and keep work on approved services.</a:t>
            </a:r>
          </a:p>
        </p:txBody>
      </p:sp>
      <p:sp>
        <p:nvSpPr>
          <p:cNvPr id="4" name="">
            <a:extLst xmlns:a="http://schemas.openxmlformats.org/drawingml/2006/main">
              <a:ext uri="{FF2B5EF4-FFF2-40B4-BE49-F238E27FC236}">
                <a16:creationId xmlns:a16="http://schemas.microsoft.com/office/drawing/2014/main" id="{88E46E88-427F-48F3-BEE5-8F9B765C5054}"/>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Report connection failures through IT before changing settings.</a:t>
            </a:r>
          </a:p>
        </p:txBody>
      </p:sp>
      <p:sp>
        <p:nvSpPr>
          <p:cNvPr id="5" name="">
            <a:extLst xmlns:a="http://schemas.openxmlformats.org/drawingml/2006/main">
              <a:ext uri="{FF2B5EF4-FFF2-40B4-BE49-F238E27FC236}">
                <a16:creationId xmlns:a16="http://schemas.microsoft.com/office/drawing/2014/main" id="{D31DC114-70A8-4616-BBC7-81EE3FDE83C1}"/>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13</a:t>
            </a:r>
          </a:p>
        </p:txBody>
      </p:sp>
    </p:spTree>
    <p:extLst>
      <p:ext uri="{BB962C8B-B14F-4D97-AF65-F5344CB8AC3E}">
        <p14:creationId xmlns:p14="http://schemas.microsoft.com/office/powerpoint/2010/main" val="2070566927"/>
      </p:ext>
    </p:extLst>
  </p:cSld>
</p:sld>
</file>

<file path=ppt/slides/slide1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379CFF-09FB-4BC1-BB74-30EC8987AA5C}"/>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Visitor and contractor access</a:t>
            </a:r>
          </a:p>
        </p:txBody>
      </p:sp>
      <p:sp>
        <p:nvSpPr>
          <p:cNvPr id="2" name="">
            <a:extLst xmlns:a="http://schemas.openxmlformats.org/drawingml/2006/main">
              <a:ext uri="{FF2B5EF4-FFF2-40B4-BE49-F238E27FC236}">
                <a16:creationId xmlns:a16="http://schemas.microsoft.com/office/drawing/2014/main" id="{17E8429A-8DAA-4782-B88C-DE123A020126}"/>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The sponsor confirms the visitor and access requirements.</a:t>
            </a:r>
          </a:p>
        </p:txBody>
      </p:sp>
      <p:sp>
        <p:nvSpPr>
          <p:cNvPr id="3" name="">
            <a:extLst xmlns:a="http://schemas.openxmlformats.org/drawingml/2006/main">
              <a:ext uri="{FF2B5EF4-FFF2-40B4-BE49-F238E27FC236}">
                <a16:creationId xmlns:a16="http://schemas.microsoft.com/office/drawing/2014/main" id="{22EC1E5D-5F1E-4232-BFC4-7474F549CF25}"/>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Use the designated guest network and approved accounts.</a:t>
            </a:r>
          </a:p>
        </p:txBody>
      </p:sp>
      <p:sp>
        <p:nvSpPr>
          <p:cNvPr id="4" name="">
            <a:extLst xmlns:a="http://schemas.openxmlformats.org/drawingml/2006/main">
              <a:ext uri="{FF2B5EF4-FFF2-40B4-BE49-F238E27FC236}">
                <a16:creationId xmlns:a16="http://schemas.microsoft.com/office/drawing/2014/main" id="{71F11C2C-DE13-4E84-89C1-5939E903E5CA}"/>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End temporary access and return equipment when work finishes.</a:t>
            </a:r>
          </a:p>
        </p:txBody>
      </p:sp>
      <p:sp>
        <p:nvSpPr>
          <p:cNvPr id="5" name="">
            <a:extLst xmlns:a="http://schemas.openxmlformats.org/drawingml/2006/main">
              <a:ext uri="{FF2B5EF4-FFF2-40B4-BE49-F238E27FC236}">
                <a16:creationId xmlns:a16="http://schemas.microsoft.com/office/drawing/2014/main" id="{76F9E267-9BC6-4B3F-80F2-5EF56230E7B4}"/>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14</a:t>
            </a:r>
          </a:p>
        </p:txBody>
      </p:sp>
    </p:spTree>
    <p:extLst>
      <p:ext uri="{BB962C8B-B14F-4D97-AF65-F5344CB8AC3E}">
        <p14:creationId xmlns:p14="http://schemas.microsoft.com/office/powerpoint/2010/main" val="2095615418"/>
      </p:ext>
    </p:extLst>
  </p:cSld>
</p:sld>
</file>

<file path=ppt/slides/slide1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0B35A3-BA06-442E-932D-69069BB472A5}"/>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Printing and end-of-shift procedure</a:t>
            </a:r>
          </a:p>
        </p:txBody>
      </p:sp>
      <p:sp>
        <p:nvSpPr>
          <p:cNvPr id="2" name="">
            <a:extLst xmlns:a="http://schemas.openxmlformats.org/drawingml/2006/main">
              <a:ext uri="{FF2B5EF4-FFF2-40B4-BE49-F238E27FC236}">
                <a16:creationId xmlns:a16="http://schemas.microsoft.com/office/drawing/2014/main" id="{1F0151C6-B294-4B3E-8864-D755CDD70D77}"/>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Collect printouts promptly and secure sensitive papers.</a:t>
            </a:r>
          </a:p>
        </p:txBody>
      </p:sp>
      <p:sp>
        <p:nvSpPr>
          <p:cNvPr id="3" name="">
            <a:extLst xmlns:a="http://schemas.openxmlformats.org/drawingml/2006/main">
              <a:ext uri="{FF2B5EF4-FFF2-40B4-BE49-F238E27FC236}">
                <a16:creationId xmlns:a16="http://schemas.microsoft.com/office/drawing/2014/main" id="{98D13F5E-7D85-4651-B5AC-00190C81329B}"/>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Save work in approved storage and sign out of shared devices.</a:t>
            </a:r>
          </a:p>
        </p:txBody>
      </p:sp>
      <p:sp>
        <p:nvSpPr>
          <p:cNvPr id="4" name="">
            <a:extLst xmlns:a="http://schemas.openxmlformats.org/drawingml/2006/main">
              <a:ext uri="{FF2B5EF4-FFF2-40B4-BE49-F238E27FC236}">
                <a16:creationId xmlns:a16="http://schemas.microsoft.com/office/drawing/2014/main" id="{B3CD7F53-DABF-412A-8C12-80CCD04B44E6}"/>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Lock or secure equipment and use approved confidential disposal.</a:t>
            </a:r>
          </a:p>
        </p:txBody>
      </p:sp>
      <p:sp>
        <p:nvSpPr>
          <p:cNvPr id="5" name="">
            <a:extLst xmlns:a="http://schemas.openxmlformats.org/drawingml/2006/main">
              <a:ext uri="{FF2B5EF4-FFF2-40B4-BE49-F238E27FC236}">
                <a16:creationId xmlns:a16="http://schemas.microsoft.com/office/drawing/2014/main" id="{CC7082D7-5CB9-41EE-909C-38252AED2F9F}"/>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15</a:t>
            </a:r>
          </a:p>
        </p:txBody>
      </p:sp>
    </p:spTree>
    <p:extLst>
      <p:ext uri="{BB962C8B-B14F-4D97-AF65-F5344CB8AC3E}">
        <p14:creationId xmlns:p14="http://schemas.microsoft.com/office/powerpoint/2010/main" val="1290558358"/>
      </p:ext>
    </p:extLst>
  </p:cSld>
</p:sld>
</file>

<file path=ppt/slides/slide1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13A1A3-1BC7-4D5D-BAE9-CCE150B941C3}"/>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Lost device and accidental disclosure</a:t>
            </a:r>
          </a:p>
        </p:txBody>
      </p:sp>
      <p:sp>
        <p:nvSpPr>
          <p:cNvPr id="2" name="">
            <a:extLst xmlns:a="http://schemas.openxmlformats.org/drawingml/2006/main">
              <a:ext uri="{FF2B5EF4-FFF2-40B4-BE49-F238E27FC236}">
                <a16:creationId xmlns:a16="http://schemas.microsoft.com/office/drawing/2014/main" id="{916DC758-FBF8-4175-BDFC-1D8F01BBBFCE}"/>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Report the loss or disclosure as soon as you notice it.</a:t>
            </a:r>
          </a:p>
        </p:txBody>
      </p:sp>
      <p:sp>
        <p:nvSpPr>
          <p:cNvPr id="3" name="">
            <a:extLst xmlns:a="http://schemas.openxmlformats.org/drawingml/2006/main">
              <a:ext uri="{FF2B5EF4-FFF2-40B4-BE49-F238E27FC236}">
                <a16:creationId xmlns:a16="http://schemas.microsoft.com/office/drawing/2014/main" id="{0A087158-8411-4A9F-A2D2-8C09425E96FF}"/>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Provide the device or file details and last known time.</a:t>
            </a:r>
          </a:p>
        </p:txBody>
      </p:sp>
      <p:sp>
        <p:nvSpPr>
          <p:cNvPr id="4" name="">
            <a:extLst xmlns:a="http://schemas.openxmlformats.org/drawingml/2006/main">
              <a:ext uri="{FF2B5EF4-FFF2-40B4-BE49-F238E27FC236}">
                <a16:creationId xmlns:a16="http://schemas.microsoft.com/office/drawing/2014/main" id="{020D4DA1-9D64-44EA-9BE8-BDEF703D88D3}"/>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Follow IT instructions for access restriction and recovery.</a:t>
            </a:r>
          </a:p>
        </p:txBody>
      </p:sp>
      <p:sp>
        <p:nvSpPr>
          <p:cNvPr id="5" name="">
            <a:extLst xmlns:a="http://schemas.openxmlformats.org/drawingml/2006/main">
              <a:ext uri="{FF2B5EF4-FFF2-40B4-BE49-F238E27FC236}">
                <a16:creationId xmlns:a16="http://schemas.microsoft.com/office/drawing/2014/main" id="{F3958CB1-B123-4613-88FC-98B552D23CDF}"/>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16</a:t>
            </a:r>
          </a:p>
        </p:txBody>
      </p:sp>
    </p:spTree>
    <p:extLst>
      <p:ext uri="{BB962C8B-B14F-4D97-AF65-F5344CB8AC3E}">
        <p14:creationId xmlns:p14="http://schemas.microsoft.com/office/powerpoint/2010/main" val="2063255957"/>
      </p:ext>
    </p:extLst>
  </p:cSld>
</p:sld>
</file>

<file path=ppt/slides/slide1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BCADFC-D7CC-4087-9C52-E72BCF0A271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Incident reporting and follow-up</a:t>
            </a:r>
          </a:p>
        </p:txBody>
      </p:sp>
      <p:sp>
        <p:nvSpPr>
          <p:cNvPr id="2" name="">
            <a:extLst xmlns:a="http://schemas.openxmlformats.org/drawingml/2006/main">
              <a:ext uri="{FF2B5EF4-FFF2-40B4-BE49-F238E27FC236}">
                <a16:creationId xmlns:a16="http://schemas.microsoft.com/office/drawing/2014/main" id="{627AC229-BC1D-44F5-AB93-05AB2AC87E31}"/>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Contact the primary responder through a known route.</a:t>
            </a:r>
          </a:p>
        </p:txBody>
      </p:sp>
      <p:sp>
        <p:nvSpPr>
          <p:cNvPr id="3" name="">
            <a:extLst xmlns:a="http://schemas.openxmlformats.org/drawingml/2006/main">
              <a:ext uri="{FF2B5EF4-FFF2-40B4-BE49-F238E27FC236}">
                <a16:creationId xmlns:a16="http://schemas.microsoft.com/office/drawing/2014/main" id="{5B5A5B61-EDA4-4C3D-838F-227AA0A78A4A}"/>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Record symptoms, time and affected device or account.</a:t>
            </a:r>
          </a:p>
        </p:txBody>
      </p:sp>
      <p:sp>
        <p:nvSpPr>
          <p:cNvPr id="4" name="">
            <a:extLst xmlns:a="http://schemas.openxmlformats.org/drawingml/2006/main">
              <a:ext uri="{FF2B5EF4-FFF2-40B4-BE49-F238E27FC236}">
                <a16:creationId xmlns:a16="http://schemas.microsoft.com/office/drawing/2014/main" id="{6145B193-68F0-437C-A2A0-51CBAE1E73DB}"/>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Use the backup route if no responder acknowledges the report.</a:t>
            </a:r>
          </a:p>
        </p:txBody>
      </p:sp>
      <p:sp>
        <p:nvSpPr>
          <p:cNvPr id="5" name="">
            <a:extLst xmlns:a="http://schemas.openxmlformats.org/drawingml/2006/main">
              <a:ext uri="{FF2B5EF4-FFF2-40B4-BE49-F238E27FC236}">
                <a16:creationId xmlns:a16="http://schemas.microsoft.com/office/drawing/2014/main" id="{0AE789B4-AECA-4E52-898F-FE5D41E026F9}"/>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17</a:t>
            </a:r>
          </a:p>
        </p:txBody>
      </p:sp>
    </p:spTree>
    <p:extLst>
      <p:ext uri="{BB962C8B-B14F-4D97-AF65-F5344CB8AC3E}">
        <p14:creationId xmlns:p14="http://schemas.microsoft.com/office/powerpoint/2010/main" val="1511964631"/>
      </p:ext>
    </p:extLst>
  </p:cSld>
</p:sld>
</file>

<file path=ppt/slides/slide1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B4B285-3711-42B0-B87A-15B8C47E39AE}"/>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Exception and access-change process</a:t>
            </a:r>
          </a:p>
        </p:txBody>
      </p:sp>
      <p:sp>
        <p:nvSpPr>
          <p:cNvPr id="2" name="">
            <a:extLst xmlns:a="http://schemas.openxmlformats.org/drawingml/2006/main">
              <a:ext uri="{FF2B5EF4-FFF2-40B4-BE49-F238E27FC236}">
                <a16:creationId xmlns:a16="http://schemas.microsoft.com/office/drawing/2014/main" id="{F3D1334F-41DA-4B4D-ADAE-7E0F7BF5B420}"/>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1. Explain the business need and duration to your manager.</a:t>
            </a:r>
          </a:p>
        </p:txBody>
      </p:sp>
      <p:sp>
        <p:nvSpPr>
          <p:cNvPr id="3" name="">
            <a:extLst xmlns:a="http://schemas.openxmlformats.org/drawingml/2006/main">
              <a:ext uri="{FF2B5EF4-FFF2-40B4-BE49-F238E27FC236}">
                <a16:creationId xmlns:a16="http://schemas.microsoft.com/office/drawing/2014/main" id="{F15B7FAE-B6D1-4896-A2E8-1F07C5E8CA5E}"/>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2. The owner and IT assess and record the proposed exception.</a:t>
            </a:r>
          </a:p>
        </p:txBody>
      </p:sp>
      <p:sp>
        <p:nvSpPr>
          <p:cNvPr id="4" name="">
            <a:extLst xmlns:a="http://schemas.openxmlformats.org/drawingml/2006/main">
              <a:ext uri="{FF2B5EF4-FFF2-40B4-BE49-F238E27FC236}">
                <a16:creationId xmlns:a16="http://schemas.microsoft.com/office/drawing/2014/main" id="{9BA68AA7-09A5-44AB-8516-496E7BDAE3BD}"/>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3. Use only the approved scope and confirm removal at expiry.</a:t>
            </a:r>
          </a:p>
        </p:txBody>
      </p:sp>
      <p:sp>
        <p:nvSpPr>
          <p:cNvPr id="5" name="">
            <a:extLst xmlns:a="http://schemas.openxmlformats.org/drawingml/2006/main">
              <a:ext uri="{FF2B5EF4-FFF2-40B4-BE49-F238E27FC236}">
                <a16:creationId xmlns:a16="http://schemas.microsoft.com/office/drawing/2014/main" id="{08675757-436E-4D7B-AF2A-9D80EBC430AF}"/>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18</a:t>
            </a:r>
          </a:p>
        </p:txBody>
      </p:sp>
    </p:spTree>
    <p:extLst>
      <p:ext uri="{BB962C8B-B14F-4D97-AF65-F5344CB8AC3E}">
        <p14:creationId xmlns:p14="http://schemas.microsoft.com/office/powerpoint/2010/main" val="1365928674"/>
      </p:ext>
    </p:extLst>
  </p:cSld>
</p:sld>
</file>

<file path=ppt/slides/slide1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A2B9DB-D67B-4280-8F60-F1C38C2D5264}"/>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Practice scenarios</a:t>
            </a:r>
          </a:p>
        </p:txBody>
      </p:sp>
      <p:sp>
        <p:nvSpPr>
          <p:cNvPr id="2" name="">
            <a:extLst xmlns:a="http://schemas.openxmlformats.org/drawingml/2006/main">
              <a:ext uri="{FF2B5EF4-FFF2-40B4-BE49-F238E27FC236}">
                <a16:creationId xmlns:a16="http://schemas.microsoft.com/office/drawing/2014/main" id="{DA499C22-AFCC-4F87-BB53-174B0BB3C281}"/>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A contractor asks for your login to download a project drawing.</a:t>
            </a:r>
          </a:p>
        </p:txBody>
      </p:sp>
      <p:sp>
        <p:nvSpPr>
          <p:cNvPr id="3" name="">
            <a:extLst xmlns:a="http://schemas.openxmlformats.org/drawingml/2006/main">
              <a:ext uri="{FF2B5EF4-FFF2-40B4-BE49-F238E27FC236}">
                <a16:creationId xmlns:a16="http://schemas.microsoft.com/office/drawing/2014/main" id="{0D9F4A32-9140-42EB-815C-0B405B969581}"/>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You sent a restricted file to the wrong external recipient.</a:t>
            </a:r>
          </a:p>
        </p:txBody>
      </p:sp>
      <p:sp>
        <p:nvSpPr>
          <p:cNvPr id="4" name="">
            <a:extLst xmlns:a="http://schemas.openxmlformats.org/drawingml/2006/main">
              <a:ext uri="{FF2B5EF4-FFF2-40B4-BE49-F238E27FC236}">
                <a16:creationId xmlns:a16="http://schemas.microsoft.com/office/drawing/2014/main" id="{EEC74630-42C4-498E-AF67-854E6461EF7A}"/>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An unfamiliar USB drive appears beside a shared workstation.</a:t>
            </a:r>
          </a:p>
        </p:txBody>
      </p:sp>
      <p:sp>
        <p:nvSpPr>
          <p:cNvPr id="5" name="">
            <a:extLst xmlns:a="http://schemas.openxmlformats.org/drawingml/2006/main">
              <a:ext uri="{FF2B5EF4-FFF2-40B4-BE49-F238E27FC236}">
                <a16:creationId xmlns:a16="http://schemas.microsoft.com/office/drawing/2014/main" id="{C659A9D5-DA72-4B67-949E-43504FBD5579}"/>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19</a:t>
            </a:r>
          </a:p>
        </p:txBody>
      </p:sp>
    </p:spTree>
    <p:extLst>
      <p:ext uri="{BB962C8B-B14F-4D97-AF65-F5344CB8AC3E}">
        <p14:creationId xmlns:p14="http://schemas.microsoft.com/office/powerpoint/2010/main" val="1246298753"/>
      </p:ext>
    </p:extLst>
  </p:cSld>
</p:sld>
</file>

<file path=ppt/slides/slide2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0FCDF2-CC73-43F8-A760-AF88538369AC}"/>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23F"/>
                </a:solidFill>
                <a:latin typeface="Arial"/>
                <a:ea typeface="Arial"/>
                <a:cs typeface="Arial"/>
              </a:defRPr>
            </a:pPr>
            <a:r>
              <a:rPr sz="3225" b="1">
                <a:solidFill>
                  <a:srgbClr val="16323F"/>
                </a:solidFill>
                <a:latin typeface="Arial"/>
                <a:ea typeface="Arial"/>
                <a:cs typeface="Arial"/>
              </a:rPr>
              <a:t>Completion and acknowledgement</a:t>
            </a:r>
          </a:p>
        </p:txBody>
      </p:sp>
      <p:sp>
        <p:nvSpPr>
          <p:cNvPr id="2" name="">
            <a:extLst xmlns:a="http://schemas.openxmlformats.org/drawingml/2006/main">
              <a:ext uri="{FF2B5EF4-FFF2-40B4-BE49-F238E27FC236}">
                <a16:creationId xmlns:a16="http://schemas.microsoft.com/office/drawing/2014/main" id="{3500F3D3-DE32-4A75-9926-890B3EBDA982}"/>
              </a:ext>
            </a:extLst>
          </p:cNvPr>
          <p:cNvSpPr>
            <a:spLocks xmlns:a="http://schemas.openxmlformats.org/drawingml/2006/main" noGrp="1"/>
          </p:cNvSpPr>
          <p:nvPr/>
        </p:nvSpPr>
        <p:spPr>
          <a:xfrm xmlns:a="http://schemas.openxmlformats.org/drawingml/2006/main">
            <a:off x="723900" y="2000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7B77"/>
                </a:solidFill>
                <a:latin typeface="Arial"/>
                <a:ea typeface="Arial"/>
                <a:cs typeface="Arial"/>
              </a:defRPr>
            </a:pPr>
            <a:r>
              <a:rPr sz="2100" b="0">
                <a:solidFill>
                  <a:srgbClr val="007B77"/>
                </a:solidFill>
                <a:latin typeface="Arial"/>
                <a:ea typeface="Arial"/>
                <a:cs typeface="Arial"/>
              </a:rPr>
              <a:t>Demonstrate screen locking and explain an access request.</a:t>
            </a:r>
          </a:p>
        </p:txBody>
      </p:sp>
      <p:sp>
        <p:nvSpPr>
          <p:cNvPr id="3" name="">
            <a:extLst xmlns:a="http://schemas.openxmlformats.org/drawingml/2006/main">
              <a:ext uri="{FF2B5EF4-FFF2-40B4-BE49-F238E27FC236}">
                <a16:creationId xmlns:a16="http://schemas.microsoft.com/office/drawing/2014/main" id="{7A53F803-8354-42C2-AF41-0C4C76F213DC}"/>
              </a:ext>
            </a:extLst>
          </p:cNvPr>
          <p:cNvSpPr>
            <a:spLocks xmlns:a="http://schemas.openxmlformats.org/drawingml/2006/main" noGrp="1"/>
          </p:cNvSpPr>
          <p:nvPr/>
        </p:nvSpPr>
        <p:spPr>
          <a:xfrm xmlns:a="http://schemas.openxmlformats.org/drawingml/2006/main">
            <a:off x="723900" y="30670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Explain safe file sharing and practise an incident report.</a:t>
            </a:r>
          </a:p>
        </p:txBody>
      </p:sp>
      <p:sp>
        <p:nvSpPr>
          <p:cNvPr id="4" name="">
            <a:extLst xmlns:a="http://schemas.openxmlformats.org/drawingml/2006/main">
              <a:ext uri="{FF2B5EF4-FFF2-40B4-BE49-F238E27FC236}">
                <a16:creationId xmlns:a16="http://schemas.microsoft.com/office/drawing/2014/main" id="{68C2B0D2-4031-4771-A0E5-56D5220AB10E}"/>
              </a:ext>
            </a:extLst>
          </p:cNvPr>
          <p:cNvSpPr>
            <a:spLocks xmlns:a="http://schemas.openxmlformats.org/drawingml/2006/main" noGrp="1"/>
          </p:cNvSpPr>
          <p:nvPr/>
        </p:nvSpPr>
        <p:spPr>
          <a:xfrm xmlns:a="http://schemas.openxmlformats.org/drawingml/2006/main">
            <a:off x="723900" y="4133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23F"/>
                </a:solidFill>
                <a:latin typeface="Arial"/>
                <a:ea typeface="Arial"/>
                <a:cs typeface="Arial"/>
              </a:defRPr>
            </a:pPr>
            <a:r>
              <a:rPr sz="2100" b="0">
                <a:solidFill>
                  <a:srgbClr val="16323F"/>
                </a:solidFill>
                <a:latin typeface="Arial"/>
                <a:ea typeface="Arial"/>
                <a:cs typeface="Arial"/>
              </a:rPr>
              <a:t>Record attendance, module version and topics needing review.</a:t>
            </a:r>
          </a:p>
        </p:txBody>
      </p:sp>
      <p:sp>
        <p:nvSpPr>
          <p:cNvPr id="5" name="">
            <a:extLst xmlns:a="http://schemas.openxmlformats.org/drawingml/2006/main">
              <a:ext uri="{FF2B5EF4-FFF2-40B4-BE49-F238E27FC236}">
                <a16:creationId xmlns:a16="http://schemas.microsoft.com/office/drawing/2014/main" id="{24AD09EA-6BAB-4F66-88D2-E72DFE12CFCA}"/>
              </a:ext>
            </a:extLst>
          </p:cNvPr>
          <p:cNvSpPr>
            <a:spLocks xmlns:a="http://schemas.openxmlformats.org/drawingml/2006/main" noGrp="1"/>
          </p:cNvSpPr>
          <p:nvPr/>
        </p:nvSpPr>
        <p:spPr>
          <a:xfrm xmlns:a="http://schemas.openxmlformats.org/drawingml/2006/main">
            <a:off x="723900" y="63627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6F"/>
                </a:solidFill>
                <a:latin typeface="Arial"/>
                <a:ea typeface="Arial"/>
                <a:cs typeface="Arial"/>
              </a:defRPr>
            </a:pPr>
            <a:r>
              <a:rPr sz="1275" b="0">
                <a:solidFill>
                  <a:srgbClr val="52666F"/>
                </a:solidFill>
                <a:latin typeface="Arial"/>
                <a:ea typeface="Arial"/>
                <a:cs typeface="Arial"/>
              </a:rPr>
              <a:t>PrimeCore Minerals   |   20</a:t>
            </a:r>
          </a:p>
        </p:txBody>
      </p:sp>
    </p:spTree>
    <p:extLst>
      <p:ext uri="{BB962C8B-B14F-4D97-AF65-F5344CB8AC3E}">
        <p14:creationId xmlns:p14="http://schemas.microsoft.com/office/powerpoint/2010/main" val="1682318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2026-10-03T06:05:30.1680000Z</dcterms:created>
  <dcterms:modified xsi:type="dcterms:W3CDTF">2026-10-03T06:05:30.1680000Z</dcterms:modified>
</coreProperties>
</file>